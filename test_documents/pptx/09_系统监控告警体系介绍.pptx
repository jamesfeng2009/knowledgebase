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011680"/>
            <a:ext cx="12191695" cy="54864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19456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微软雅黑"/>
              </a:rPr>
              <a:t>系统监控告警体系介绍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38328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>
                <a:solidFill>
                  <a:srgbClr val="D6E4F0"/>
                </a:solidFill>
                <a:latin typeface="微软雅黑"/>
              </a:rPr>
              <a:t>全链路可观测性建设实践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20624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D6E4F0"/>
                </a:solidFill>
                <a:latin typeface="微软雅黑"/>
              </a:rPr>
              <a:t>汇报人：吴鹏    日期：2026-07-30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微软雅黑"/>
              </a:rPr>
              <a:t>监控体系总体架构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1153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000" b="1">
                <a:solidFill>
                  <a:srgbClr val="2E5C9E"/>
                </a:solidFill>
                <a:latin typeface="微软雅黑"/>
              </a:rPr>
              <a:t>▸ </a:t>
            </a:r>
            <a:r>
              <a:rPr sz="2000">
                <a:solidFill>
                  <a:srgbClr val="333333"/>
                </a:solidFill>
                <a:latin typeface="微软雅黑"/>
              </a:rPr>
              <a:t>构建Metrics、Logging、Tracing三大可观测性支柱</a:t>
            </a:r>
          </a:p>
          <a:p>
            <a:pPr algn="l">
              <a:spcAft>
                <a:spcPts val="1400"/>
              </a:spcAft>
            </a:pPr>
            <a:r>
              <a:rPr sz="2000" b="1">
                <a:solidFill>
                  <a:srgbClr val="2E5C9E"/>
                </a:solidFill>
                <a:latin typeface="微软雅黑"/>
              </a:rPr>
              <a:t>▸ </a:t>
            </a:r>
            <a:r>
              <a:rPr sz="2000">
                <a:solidFill>
                  <a:srgbClr val="333333"/>
                </a:solidFill>
                <a:latin typeface="微软雅黑"/>
              </a:rPr>
              <a:t>采集层：Prometheus加Fluentd加Jaeger统一采集</a:t>
            </a:r>
          </a:p>
          <a:p>
            <a:pPr algn="l">
              <a:spcAft>
                <a:spcPts val="1400"/>
              </a:spcAft>
            </a:pPr>
            <a:r>
              <a:rPr sz="2000" b="1">
                <a:solidFill>
                  <a:srgbClr val="2E5C9E"/>
                </a:solidFill>
                <a:latin typeface="微软雅黑"/>
              </a:rPr>
              <a:t>▸ </a:t>
            </a:r>
            <a:r>
              <a:rPr sz="2000">
                <a:solidFill>
                  <a:srgbClr val="333333"/>
                </a:solidFill>
                <a:latin typeface="微软雅黑"/>
              </a:rPr>
              <a:t>存储层：VictoriaMetrics加Elasticsearch加ClickHouse</a:t>
            </a:r>
          </a:p>
          <a:p>
            <a:pPr algn="l">
              <a:spcAft>
                <a:spcPts val="1400"/>
              </a:spcAft>
            </a:pPr>
            <a:r>
              <a:rPr sz="2000" b="1">
                <a:solidFill>
                  <a:srgbClr val="2E5C9E"/>
                </a:solidFill>
                <a:latin typeface="微软雅黑"/>
              </a:rPr>
              <a:t>▸ </a:t>
            </a:r>
            <a:r>
              <a:rPr sz="2000">
                <a:solidFill>
                  <a:srgbClr val="333333"/>
                </a:solidFill>
                <a:latin typeface="微软雅黑"/>
              </a:rPr>
              <a:t>展示层：Grafana统一大盘，支持多维下钻分析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微软雅黑"/>
              </a:rPr>
              <a:t>指标监控设计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1153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000" b="1">
                <a:solidFill>
                  <a:srgbClr val="2E5C9E"/>
                </a:solidFill>
                <a:latin typeface="微软雅黑"/>
              </a:rPr>
              <a:t>▸ </a:t>
            </a:r>
            <a:r>
              <a:rPr sz="2000">
                <a:solidFill>
                  <a:srgbClr val="333333"/>
                </a:solidFill>
                <a:latin typeface="微软雅黑"/>
              </a:rPr>
              <a:t>业务指标：DAU、检索量、问答成功率、知识贡献量</a:t>
            </a:r>
          </a:p>
          <a:p>
            <a:pPr algn="l">
              <a:spcAft>
                <a:spcPts val="1400"/>
              </a:spcAft>
            </a:pPr>
            <a:r>
              <a:rPr sz="2000" b="1">
                <a:solidFill>
                  <a:srgbClr val="2E5C9E"/>
                </a:solidFill>
                <a:latin typeface="微软雅黑"/>
              </a:rPr>
              <a:t>▸ </a:t>
            </a:r>
            <a:r>
              <a:rPr sz="2000">
                <a:solidFill>
                  <a:srgbClr val="333333"/>
                </a:solidFill>
                <a:latin typeface="微软雅黑"/>
              </a:rPr>
              <a:t>应用指标：QPS、响应延迟、错误率、GC时间</a:t>
            </a:r>
          </a:p>
          <a:p>
            <a:pPr algn="l">
              <a:spcAft>
                <a:spcPts val="1400"/>
              </a:spcAft>
            </a:pPr>
            <a:r>
              <a:rPr sz="2000" b="1">
                <a:solidFill>
                  <a:srgbClr val="2E5C9E"/>
                </a:solidFill>
                <a:latin typeface="微软雅黑"/>
              </a:rPr>
              <a:t>▸ </a:t>
            </a:r>
            <a:r>
              <a:rPr sz="2000">
                <a:solidFill>
                  <a:srgbClr val="333333"/>
                </a:solidFill>
                <a:latin typeface="微软雅黑"/>
              </a:rPr>
              <a:t>基础设施指标：CPU、内存、磁盘IO、网络带宽</a:t>
            </a:r>
          </a:p>
          <a:p>
            <a:pPr algn="l">
              <a:spcAft>
                <a:spcPts val="1400"/>
              </a:spcAft>
            </a:pPr>
            <a:r>
              <a:rPr sz="2000" b="1">
                <a:solidFill>
                  <a:srgbClr val="2E5C9E"/>
                </a:solidFill>
                <a:latin typeface="微软雅黑"/>
              </a:rPr>
              <a:t>▸ </a:t>
            </a:r>
            <a:r>
              <a:rPr sz="2000">
                <a:solidFill>
                  <a:srgbClr val="333333"/>
                </a:solidFill>
                <a:latin typeface="微软雅黑"/>
              </a:rPr>
              <a:t>采用RED方法（Rate/Error/Duration）规范服务监控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微软雅黑"/>
              </a:rPr>
              <a:t>告警策略与分级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1153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000" b="1">
                <a:solidFill>
                  <a:srgbClr val="2E5C9E"/>
                </a:solidFill>
                <a:latin typeface="微软雅黑"/>
              </a:rPr>
              <a:t>▸ </a:t>
            </a:r>
            <a:r>
              <a:rPr sz="2000">
                <a:solidFill>
                  <a:srgbClr val="333333"/>
                </a:solidFill>
                <a:latin typeface="微软雅黑"/>
              </a:rPr>
              <a:t>P0告警：核心服务不可用，电话加短信加IM多通道通知</a:t>
            </a:r>
          </a:p>
          <a:p>
            <a:pPr algn="l">
              <a:spcAft>
                <a:spcPts val="1400"/>
              </a:spcAft>
            </a:pPr>
            <a:r>
              <a:rPr sz="2000" b="1">
                <a:solidFill>
                  <a:srgbClr val="2E5C9E"/>
                </a:solidFill>
                <a:latin typeface="微软雅黑"/>
              </a:rPr>
              <a:t>▸ </a:t>
            </a:r>
            <a:r>
              <a:rPr sz="2000">
                <a:solidFill>
                  <a:srgbClr val="333333"/>
                </a:solidFill>
                <a:latin typeface="微软雅黑"/>
              </a:rPr>
              <a:t>P1告警：核心功能异常，IM加急加邮件通知</a:t>
            </a:r>
          </a:p>
          <a:p>
            <a:pPr algn="l">
              <a:spcAft>
                <a:spcPts val="1400"/>
              </a:spcAft>
            </a:pPr>
            <a:r>
              <a:rPr sz="2000" b="1">
                <a:solidFill>
                  <a:srgbClr val="2E5C9E"/>
                </a:solidFill>
                <a:latin typeface="微软雅黑"/>
              </a:rPr>
              <a:t>▸ </a:t>
            </a:r>
            <a:r>
              <a:rPr sz="2000">
                <a:solidFill>
                  <a:srgbClr val="333333"/>
                </a:solidFill>
                <a:latin typeface="微软雅黑"/>
              </a:rPr>
              <a:t>P2告警：非核心功能或指标波动，IM常规通知</a:t>
            </a:r>
          </a:p>
          <a:p>
            <a:pPr algn="l">
              <a:spcAft>
                <a:spcPts val="1400"/>
              </a:spcAft>
            </a:pPr>
            <a:r>
              <a:rPr sz="2000" b="1">
                <a:solidFill>
                  <a:srgbClr val="2E5C9E"/>
                </a:solidFill>
                <a:latin typeface="微软雅黑"/>
              </a:rPr>
              <a:t>▸ </a:t>
            </a:r>
            <a:r>
              <a:rPr sz="2000">
                <a:solidFill>
                  <a:srgbClr val="333333"/>
                </a:solidFill>
                <a:latin typeface="微软雅黑"/>
              </a:rPr>
              <a:t>告警收敛与降噪：同源告警合并、基于时间窗口抑制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微软雅黑"/>
              </a:rPr>
              <a:t>日志与链路追踪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1153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000" b="1">
                <a:solidFill>
                  <a:srgbClr val="2E5C9E"/>
                </a:solidFill>
                <a:latin typeface="微软雅黑"/>
              </a:rPr>
              <a:t>▸ </a:t>
            </a:r>
            <a:r>
              <a:rPr sz="2000">
                <a:solidFill>
                  <a:srgbClr val="333333"/>
                </a:solidFill>
                <a:latin typeface="微软雅黑"/>
              </a:rPr>
              <a:t>统一日志格式规范，结构化JSON输出便于检索分析</a:t>
            </a:r>
          </a:p>
          <a:p>
            <a:pPr algn="l">
              <a:spcAft>
                <a:spcPts val="1400"/>
              </a:spcAft>
            </a:pPr>
            <a:r>
              <a:rPr sz="2000" b="1">
                <a:solidFill>
                  <a:srgbClr val="2E5C9E"/>
                </a:solidFill>
                <a:latin typeface="微软雅黑"/>
              </a:rPr>
              <a:t>▸ </a:t>
            </a:r>
            <a:r>
              <a:rPr sz="2000">
                <a:solidFill>
                  <a:srgbClr val="333333"/>
                </a:solidFill>
                <a:latin typeface="微软雅黑"/>
              </a:rPr>
              <a:t>关键链路打标TraceID，实现请求全链路追踪</a:t>
            </a:r>
          </a:p>
          <a:p>
            <a:pPr algn="l">
              <a:spcAft>
                <a:spcPts val="1400"/>
              </a:spcAft>
            </a:pPr>
            <a:r>
              <a:rPr sz="2000" b="1">
                <a:solidFill>
                  <a:srgbClr val="2E5C9E"/>
                </a:solidFill>
                <a:latin typeface="微软雅黑"/>
              </a:rPr>
              <a:t>▸ </a:t>
            </a:r>
            <a:r>
              <a:rPr sz="2000">
                <a:solidFill>
                  <a:srgbClr val="333333"/>
                </a:solidFill>
                <a:latin typeface="微软雅黑"/>
              </a:rPr>
              <a:t>日志分级存储：热数据7天SSD，冷数据归档对象存储</a:t>
            </a:r>
          </a:p>
          <a:p>
            <a:pPr algn="l">
              <a:spcAft>
                <a:spcPts val="1400"/>
              </a:spcAft>
            </a:pPr>
            <a:r>
              <a:rPr sz="2000" b="1">
                <a:solidFill>
                  <a:srgbClr val="2E5C9E"/>
                </a:solidFill>
                <a:latin typeface="微软雅黑"/>
              </a:rPr>
              <a:t>▸ </a:t>
            </a:r>
            <a:r>
              <a:rPr sz="2000">
                <a:solidFill>
                  <a:srgbClr val="333333"/>
                </a:solidFill>
                <a:latin typeface="微软雅黑"/>
              </a:rPr>
              <a:t>异常日志自动聚类，辅助快速定位问题根因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微软雅黑"/>
              </a:rPr>
              <a:t>运维实践与成效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1153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000" b="1">
                <a:solidFill>
                  <a:srgbClr val="2E5C9E"/>
                </a:solidFill>
                <a:latin typeface="微软雅黑"/>
              </a:rPr>
              <a:t>▸ </a:t>
            </a:r>
            <a:r>
              <a:rPr sz="2000">
                <a:solidFill>
                  <a:srgbClr val="333333"/>
                </a:solidFill>
                <a:latin typeface="微软雅黑"/>
              </a:rPr>
              <a:t>MTTD（平均检测时间）从15分钟降至3分钟</a:t>
            </a:r>
          </a:p>
          <a:p>
            <a:pPr algn="l">
              <a:spcAft>
                <a:spcPts val="1400"/>
              </a:spcAft>
            </a:pPr>
            <a:r>
              <a:rPr sz="2000" b="1">
                <a:solidFill>
                  <a:srgbClr val="2E5C9E"/>
                </a:solidFill>
                <a:latin typeface="微软雅黑"/>
              </a:rPr>
              <a:t>▸ </a:t>
            </a:r>
            <a:r>
              <a:rPr sz="2000">
                <a:solidFill>
                  <a:srgbClr val="333333"/>
                </a:solidFill>
                <a:latin typeface="微软雅黑"/>
              </a:rPr>
              <a:t>MTTR（平均恢复时间）从45分钟降至12分钟</a:t>
            </a:r>
          </a:p>
          <a:p>
            <a:pPr algn="l">
              <a:spcAft>
                <a:spcPts val="1400"/>
              </a:spcAft>
            </a:pPr>
            <a:r>
              <a:rPr sz="2000" b="1">
                <a:solidFill>
                  <a:srgbClr val="2E5C9E"/>
                </a:solidFill>
                <a:latin typeface="微软雅黑"/>
              </a:rPr>
              <a:t>▸ </a:t>
            </a:r>
            <a:r>
              <a:rPr sz="2000">
                <a:solidFill>
                  <a:srgbClr val="333333"/>
                </a:solidFill>
                <a:latin typeface="微软雅黑"/>
              </a:rPr>
              <a:t>告警准确率提升至92%，无效告警减少60%</a:t>
            </a:r>
          </a:p>
          <a:p>
            <a:pPr algn="l">
              <a:spcAft>
                <a:spcPts val="1400"/>
              </a:spcAft>
            </a:pPr>
            <a:r>
              <a:rPr sz="2000" b="1">
                <a:solidFill>
                  <a:srgbClr val="2E5C9E"/>
                </a:solidFill>
                <a:latin typeface="微软雅黑"/>
              </a:rPr>
              <a:t>▸ </a:t>
            </a:r>
            <a:r>
              <a:rPr sz="2000">
                <a:solidFill>
                  <a:srgbClr val="333333"/>
                </a:solidFill>
                <a:latin typeface="微软雅黑"/>
              </a:rPr>
              <a:t>下一步：引入AIOps异常检测，实现智能根因分析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